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M Sans Italics" charset="1" panose="00000000000000000000"/>
      <p:regular r:id="rId21"/>
    </p:embeddedFont>
    <p:embeddedFont>
      <p:font typeface="Muli Bold" charset="1" panose="00000800000000000000"/>
      <p:regular r:id="rId22"/>
    </p:embeddedFont>
    <p:embeddedFont>
      <p:font typeface="Public Sans 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Garet" charset="1" panose="00000000000000000000"/>
      <p:regular r:id="rId25"/>
    </p:embeddedFont>
    <p:embeddedFont>
      <p:font typeface="Inter Bold" charset="1" panose="02000503000000020004"/>
      <p:regular r:id="rId26"/>
    </p:embeddedFont>
    <p:embeddedFont>
      <p:font typeface="Noto Sans Bold" charset="1" panose="020B0802040504020204"/>
      <p:regular r:id="rId27"/>
    </p:embeddedFont>
    <p:embeddedFont>
      <p:font typeface="Muli" charset="1" panose="00000500000000000000"/>
      <p:regular r:id="rId28"/>
    </p:embeddedFont>
    <p:embeddedFont>
      <p:font typeface="Open Sans" charset="1" panose="00000000000000000000"/>
      <p:regular r:id="rId29"/>
    </p:embeddedFont>
    <p:embeddedFont>
      <p:font typeface="Garet Bold" charset="1" panose="00000000000000000000"/>
      <p:regular r:id="rId30"/>
    </p:embeddedFont>
    <p:embeddedFont>
      <p:font typeface="DM Sans Bold" charset="1" panose="00000000000000000000"/>
      <p:regular r:id="rId31"/>
    </p:embeddedFont>
    <p:embeddedFont>
      <p:font typeface="Archive" charset="1" panose="020005060400000200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87073" y="1887842"/>
            <a:ext cx="6863951" cy="68639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672" t="0" r="-38672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814736" y="7967885"/>
            <a:ext cx="68143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GVHD: Ths Phan Thị Phương Nam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7120042"/>
            <a:ext cx="4064269" cy="4064269"/>
          </a:xfrm>
          <a:custGeom>
            <a:avLst/>
            <a:gdLst/>
            <a:ahLst/>
            <a:cxnLst/>
            <a:rect r="r" b="b" t="t" l="l"/>
            <a:pathLst>
              <a:path h="4064269" w="4064269">
                <a:moveTo>
                  <a:pt x="0" y="0"/>
                </a:moveTo>
                <a:lnTo>
                  <a:pt x="4064269" y="0"/>
                </a:lnTo>
                <a:lnTo>
                  <a:pt x="4064269" y="4064270"/>
                </a:lnTo>
                <a:lnTo>
                  <a:pt x="0" y="4064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223731" y="-144293"/>
            <a:ext cx="4064269" cy="4064269"/>
          </a:xfrm>
          <a:custGeom>
            <a:avLst/>
            <a:gdLst/>
            <a:ahLst/>
            <a:cxnLst/>
            <a:rect r="r" b="b" t="t" l="l"/>
            <a:pathLst>
              <a:path h="4064269" w="4064269">
                <a:moveTo>
                  <a:pt x="4064269" y="4064270"/>
                </a:moveTo>
                <a:lnTo>
                  <a:pt x="0" y="4064270"/>
                </a:lnTo>
                <a:lnTo>
                  <a:pt x="0" y="0"/>
                </a:lnTo>
                <a:lnTo>
                  <a:pt x="4064269" y="0"/>
                </a:lnTo>
                <a:lnTo>
                  <a:pt x="4064269" y="406427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4249" y="-20552"/>
            <a:ext cx="1260904" cy="1260904"/>
          </a:xfrm>
          <a:custGeom>
            <a:avLst/>
            <a:gdLst/>
            <a:ahLst/>
            <a:cxnLst/>
            <a:rect r="r" b="b" t="t" l="l"/>
            <a:pathLst>
              <a:path h="1260904" w="1260904">
                <a:moveTo>
                  <a:pt x="0" y="0"/>
                </a:moveTo>
                <a:lnTo>
                  <a:pt x="1260904" y="0"/>
                </a:lnTo>
                <a:lnTo>
                  <a:pt x="1260904" y="1260904"/>
                </a:lnTo>
                <a:lnTo>
                  <a:pt x="0" y="1260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346093"/>
            <a:ext cx="2380266" cy="2172534"/>
          </a:xfrm>
          <a:custGeom>
            <a:avLst/>
            <a:gdLst/>
            <a:ahLst/>
            <a:cxnLst/>
            <a:rect r="r" b="b" t="t" l="l"/>
            <a:pathLst>
              <a:path h="2172534" w="2380266">
                <a:moveTo>
                  <a:pt x="0" y="0"/>
                </a:moveTo>
                <a:lnTo>
                  <a:pt x="2380266" y="0"/>
                </a:lnTo>
                <a:lnTo>
                  <a:pt x="2380266" y="2172534"/>
                </a:lnTo>
                <a:lnTo>
                  <a:pt x="0" y="2172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7133" y="1461521"/>
            <a:ext cx="810541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146C94"/>
                </a:solidFill>
                <a:latin typeface="Muli Bold"/>
                <a:ea typeface="Muli Bold"/>
                <a:cs typeface="Muli Bold"/>
                <a:sym typeface="Muli Bold"/>
              </a:rPr>
              <a:t>BẢO VỆ KHÓA LUẬN TỐT NGHIỆP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249" y="3614842"/>
            <a:ext cx="12280990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5595" b="true">
                <a:solidFill>
                  <a:srgbClr val="146C9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XÂY DỰNG HỆ THỐNG </a:t>
            </a:r>
            <a:r>
              <a:rPr lang="en-US" b="true" sz="5595">
                <a:solidFill>
                  <a:srgbClr val="146C9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PORTFOLIO ĐIỆN TỬ THEO DÕI LỘ TRÌNH PHÁT TRIỂN NĂNG LỰC CỦA SINH VIÊN THEO CHUẨN ĐẦU 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97460" y="386063"/>
            <a:ext cx="31796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Đại học Trà Vinh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14736" y="8704502"/>
            <a:ext cx="56840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SVTH: Tô Đoàn Nguyệt Thủy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2181" y="2471800"/>
            <a:ext cx="21333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Đề tài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882" y="7596592"/>
            <a:ext cx="2690408" cy="2690408"/>
          </a:xfrm>
          <a:custGeom>
            <a:avLst/>
            <a:gdLst/>
            <a:ahLst/>
            <a:cxnLst/>
            <a:rect r="r" b="b" t="t" l="l"/>
            <a:pathLst>
              <a:path h="2690408" w="2690408">
                <a:moveTo>
                  <a:pt x="0" y="0"/>
                </a:moveTo>
                <a:lnTo>
                  <a:pt x="2690408" y="0"/>
                </a:lnTo>
                <a:lnTo>
                  <a:pt x="2690408" y="2690408"/>
                </a:lnTo>
                <a:lnTo>
                  <a:pt x="0" y="269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597592" y="7596592"/>
            <a:ext cx="2690408" cy="2690408"/>
          </a:xfrm>
          <a:custGeom>
            <a:avLst/>
            <a:gdLst/>
            <a:ahLst/>
            <a:cxnLst/>
            <a:rect r="r" b="b" t="t" l="l"/>
            <a:pathLst>
              <a:path h="2690408" w="2690408">
                <a:moveTo>
                  <a:pt x="2690408" y="0"/>
                </a:moveTo>
                <a:lnTo>
                  <a:pt x="0" y="0"/>
                </a:lnTo>
                <a:lnTo>
                  <a:pt x="0" y="2690408"/>
                </a:lnTo>
                <a:lnTo>
                  <a:pt x="2690408" y="2690408"/>
                </a:lnTo>
                <a:lnTo>
                  <a:pt x="26904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028700" cy="1960736"/>
            <a:chOff x="0" y="0"/>
            <a:chExt cx="270933" cy="5164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94044" y="849634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06144" y="542925"/>
            <a:ext cx="35217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Nội dung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7603" y="1982522"/>
            <a:ext cx="368737" cy="8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</a:pPr>
            <a:r>
              <a:rPr lang="en-US" sz="5078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19276" y="1960736"/>
            <a:ext cx="1549741" cy="1365035"/>
            <a:chOff x="0" y="0"/>
            <a:chExt cx="215402" cy="189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54952" y="0"/>
                  </a:moveTo>
                  <a:lnTo>
                    <a:pt x="160450" y="0"/>
                  </a:lnTo>
                  <a:cubicBezTo>
                    <a:pt x="190799" y="0"/>
                    <a:pt x="215402" y="24603"/>
                    <a:pt x="215402" y="54952"/>
                  </a:cubicBezTo>
                  <a:lnTo>
                    <a:pt x="215402" y="134777"/>
                  </a:lnTo>
                  <a:cubicBezTo>
                    <a:pt x="215402" y="165126"/>
                    <a:pt x="190799" y="189729"/>
                    <a:pt x="160450" y="189729"/>
                  </a:cubicBezTo>
                  <a:lnTo>
                    <a:pt x="54952" y="189729"/>
                  </a:lnTo>
                  <a:cubicBezTo>
                    <a:pt x="24603" y="189729"/>
                    <a:pt x="0" y="165126"/>
                    <a:pt x="0" y="134777"/>
                  </a:cubicBezTo>
                  <a:lnTo>
                    <a:pt x="0" y="54952"/>
                  </a:lnTo>
                  <a:cubicBezTo>
                    <a:pt x="0" y="24603"/>
                    <a:pt x="24603" y="0"/>
                    <a:pt x="54952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5402" cy="256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01640" y="2183519"/>
            <a:ext cx="5550250" cy="85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49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Tổng quan đề tài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47603" y="3886781"/>
            <a:ext cx="368737" cy="8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</a:pPr>
            <a:r>
              <a:rPr lang="en-US" sz="5078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719276" y="3864995"/>
            <a:ext cx="1549741" cy="1365035"/>
            <a:chOff x="0" y="0"/>
            <a:chExt cx="215402" cy="189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54952" y="0"/>
                  </a:moveTo>
                  <a:lnTo>
                    <a:pt x="160450" y="0"/>
                  </a:lnTo>
                  <a:cubicBezTo>
                    <a:pt x="190799" y="0"/>
                    <a:pt x="215402" y="24603"/>
                    <a:pt x="215402" y="54952"/>
                  </a:cubicBezTo>
                  <a:lnTo>
                    <a:pt x="215402" y="134777"/>
                  </a:lnTo>
                  <a:cubicBezTo>
                    <a:pt x="215402" y="165126"/>
                    <a:pt x="190799" y="189729"/>
                    <a:pt x="160450" y="189729"/>
                  </a:cubicBezTo>
                  <a:lnTo>
                    <a:pt x="54952" y="189729"/>
                  </a:lnTo>
                  <a:cubicBezTo>
                    <a:pt x="24603" y="189729"/>
                    <a:pt x="0" y="165126"/>
                    <a:pt x="0" y="134777"/>
                  </a:cubicBezTo>
                  <a:lnTo>
                    <a:pt x="0" y="54952"/>
                  </a:lnTo>
                  <a:cubicBezTo>
                    <a:pt x="0" y="24603"/>
                    <a:pt x="24603" y="0"/>
                    <a:pt x="54952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15402" cy="256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601640" y="4087778"/>
            <a:ext cx="5550250" cy="85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49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Cơ sở lý thuyết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47603" y="6118590"/>
            <a:ext cx="368737" cy="8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</a:pPr>
            <a:r>
              <a:rPr lang="en-US" sz="5078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719276" y="6096805"/>
            <a:ext cx="1549741" cy="1365035"/>
            <a:chOff x="0" y="0"/>
            <a:chExt cx="215402" cy="189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54952" y="0"/>
                  </a:moveTo>
                  <a:lnTo>
                    <a:pt x="160450" y="0"/>
                  </a:lnTo>
                  <a:cubicBezTo>
                    <a:pt x="190799" y="0"/>
                    <a:pt x="215402" y="24603"/>
                    <a:pt x="215402" y="54952"/>
                  </a:cubicBezTo>
                  <a:lnTo>
                    <a:pt x="215402" y="134777"/>
                  </a:lnTo>
                  <a:cubicBezTo>
                    <a:pt x="215402" y="165126"/>
                    <a:pt x="190799" y="189729"/>
                    <a:pt x="160450" y="189729"/>
                  </a:cubicBezTo>
                  <a:lnTo>
                    <a:pt x="54952" y="189729"/>
                  </a:lnTo>
                  <a:cubicBezTo>
                    <a:pt x="24603" y="189729"/>
                    <a:pt x="0" y="165126"/>
                    <a:pt x="0" y="134777"/>
                  </a:cubicBezTo>
                  <a:lnTo>
                    <a:pt x="0" y="54952"/>
                  </a:lnTo>
                  <a:cubicBezTo>
                    <a:pt x="0" y="24603"/>
                    <a:pt x="24603" y="0"/>
                    <a:pt x="54952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15402" cy="256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773282" y="6219575"/>
            <a:ext cx="8420762" cy="85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49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Hiện thực hóa  nghiên cứu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47603" y="8150375"/>
            <a:ext cx="368737" cy="8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</a:pPr>
            <a:r>
              <a:rPr lang="en-US" sz="5078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719276" y="8128589"/>
            <a:ext cx="1549741" cy="1365035"/>
            <a:chOff x="0" y="0"/>
            <a:chExt cx="215402" cy="1897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54952" y="0"/>
                  </a:moveTo>
                  <a:lnTo>
                    <a:pt x="160450" y="0"/>
                  </a:lnTo>
                  <a:cubicBezTo>
                    <a:pt x="190799" y="0"/>
                    <a:pt x="215402" y="24603"/>
                    <a:pt x="215402" y="54952"/>
                  </a:cubicBezTo>
                  <a:lnTo>
                    <a:pt x="215402" y="134777"/>
                  </a:lnTo>
                  <a:cubicBezTo>
                    <a:pt x="215402" y="165126"/>
                    <a:pt x="190799" y="189729"/>
                    <a:pt x="160450" y="189729"/>
                  </a:cubicBezTo>
                  <a:lnTo>
                    <a:pt x="54952" y="189729"/>
                  </a:lnTo>
                  <a:cubicBezTo>
                    <a:pt x="24603" y="189729"/>
                    <a:pt x="0" y="165126"/>
                    <a:pt x="0" y="134777"/>
                  </a:cubicBezTo>
                  <a:lnTo>
                    <a:pt x="0" y="54952"/>
                  </a:lnTo>
                  <a:cubicBezTo>
                    <a:pt x="0" y="24603"/>
                    <a:pt x="24603" y="0"/>
                    <a:pt x="54952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15402" cy="256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04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01640" y="8351372"/>
            <a:ext cx="10079964" cy="85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49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Kết luận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44500" y="514350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28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40689" y="0"/>
            <a:ext cx="9055509" cy="1628896"/>
            <a:chOff x="0" y="0"/>
            <a:chExt cx="2384990" cy="429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4990" cy="429010"/>
            </a:xfrm>
            <a:custGeom>
              <a:avLst/>
              <a:gdLst/>
              <a:ahLst/>
              <a:cxnLst/>
              <a:rect r="r" b="b" t="t" l="l"/>
              <a:pathLst>
                <a:path h="429010" w="2384990">
                  <a:moveTo>
                    <a:pt x="0" y="0"/>
                  </a:moveTo>
                  <a:lnTo>
                    <a:pt x="2384990" y="0"/>
                  </a:lnTo>
                  <a:lnTo>
                    <a:pt x="2384990" y="429010"/>
                  </a:lnTo>
                  <a:lnTo>
                    <a:pt x="0" y="42901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384990" cy="54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59"/>
                </a:lnSpc>
              </a:pPr>
              <a:r>
                <a:rPr lang="en-US" sz="58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Tổng quan đề tài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02769" y="2742767"/>
            <a:ext cx="2302996" cy="2950287"/>
          </a:xfrm>
          <a:custGeom>
            <a:avLst/>
            <a:gdLst/>
            <a:ahLst/>
            <a:cxnLst/>
            <a:rect r="r" b="b" t="t" l="l"/>
            <a:pathLst>
              <a:path h="2950287" w="2302996">
                <a:moveTo>
                  <a:pt x="0" y="0"/>
                </a:moveTo>
                <a:lnTo>
                  <a:pt x="2302995" y="0"/>
                </a:lnTo>
                <a:lnTo>
                  <a:pt x="2302995" y="2950287"/>
                </a:lnTo>
                <a:lnTo>
                  <a:pt x="0" y="295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15997" y="1871631"/>
            <a:ext cx="5928003" cy="87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  <a:spcBef>
                <a:spcPct val="0"/>
              </a:spcBef>
            </a:pPr>
            <a:r>
              <a:rPr lang="en-US" b="true" sz="507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do chọn đề tài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9347" y="3009900"/>
            <a:ext cx="14203565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Thực trạng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Đà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tạo đại học đang chuyển sang mô hình OBE (Outcome-Based Education).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Sinh viên chỉ xem được điểm số, khó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heo dõ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mức độ đạ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 ch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uẩ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đầu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 (PLO,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CLO).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Cố vấn học tập phải thống kê thủ công mất nhiều thời gian</a:t>
            </a: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80938" y="6872288"/>
            <a:ext cx="14203565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Giải pháp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Theo dõ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năng lực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theo ch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uẩ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đầu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Trực quan hóa dữ liệu học tập bằng biểu đồ.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Hỗ trợ tư vấn bằng AI.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6281" y="7596592"/>
            <a:ext cx="2690408" cy="2690408"/>
          </a:xfrm>
          <a:custGeom>
            <a:avLst/>
            <a:gdLst/>
            <a:ahLst/>
            <a:cxnLst/>
            <a:rect r="r" b="b" t="t" l="l"/>
            <a:pathLst>
              <a:path h="2690408" w="2690408">
                <a:moveTo>
                  <a:pt x="0" y="0"/>
                </a:moveTo>
                <a:lnTo>
                  <a:pt x="2690408" y="0"/>
                </a:lnTo>
                <a:lnTo>
                  <a:pt x="2690408" y="2690408"/>
                </a:lnTo>
                <a:lnTo>
                  <a:pt x="0" y="269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19192" y="0"/>
            <a:ext cx="2690408" cy="2690408"/>
          </a:xfrm>
          <a:custGeom>
            <a:avLst/>
            <a:gdLst/>
            <a:ahLst/>
            <a:cxnLst/>
            <a:rect r="r" b="b" t="t" l="l"/>
            <a:pathLst>
              <a:path h="2690408" w="2690408">
                <a:moveTo>
                  <a:pt x="2690409" y="2690408"/>
                </a:moveTo>
                <a:lnTo>
                  <a:pt x="0" y="2690408"/>
                </a:lnTo>
                <a:lnTo>
                  <a:pt x="0" y="0"/>
                </a:lnTo>
                <a:lnTo>
                  <a:pt x="2690409" y="0"/>
                </a:lnTo>
                <a:lnTo>
                  <a:pt x="2690409" y="269040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48273" y="8941796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5"/>
                </a:lnTo>
                <a:lnTo>
                  <a:pt x="0" y="498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40689" y="0"/>
            <a:ext cx="9055509" cy="1628896"/>
            <a:chOff x="0" y="0"/>
            <a:chExt cx="2384990" cy="429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4990" cy="429010"/>
            </a:xfrm>
            <a:custGeom>
              <a:avLst/>
              <a:gdLst/>
              <a:ahLst/>
              <a:cxnLst/>
              <a:rect r="r" b="b" t="t" l="l"/>
              <a:pathLst>
                <a:path h="429010" w="2384990">
                  <a:moveTo>
                    <a:pt x="0" y="0"/>
                  </a:moveTo>
                  <a:lnTo>
                    <a:pt x="2384990" y="0"/>
                  </a:lnTo>
                  <a:lnTo>
                    <a:pt x="2384990" y="429010"/>
                  </a:lnTo>
                  <a:lnTo>
                    <a:pt x="0" y="42901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384990" cy="54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59"/>
                </a:lnSpc>
              </a:pPr>
              <a:r>
                <a:rPr lang="en-US" sz="58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Tổng quan đề tài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80901" y="-1312975"/>
            <a:ext cx="1433381" cy="4683349"/>
            <a:chOff x="0" y="0"/>
            <a:chExt cx="377516" cy="1233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7516" cy="1233475"/>
            </a:xfrm>
            <a:custGeom>
              <a:avLst/>
              <a:gdLst/>
              <a:ahLst/>
              <a:cxnLst/>
              <a:rect r="r" b="b" t="t" l="l"/>
              <a:pathLst>
                <a:path h="1233475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9964" y="1867957"/>
            <a:ext cx="2352964" cy="47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36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MỤC TIÊU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824482"/>
            <a:ext cx="7067880" cy="47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36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ĐỐI TƯỢNG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01072" y="1867957"/>
            <a:ext cx="6247201" cy="47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36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PHẠM VI NGHIÊN CỨU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5124" y="2623733"/>
            <a:ext cx="8607238" cy="335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Xây dựng hệ thống e-Portfolio theo dõi năng lực sinh viên theo chuẩn đầu ra.</a:t>
            </a:r>
          </a:p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Tự động tính toán mức độ đạt PLO, CLO.</a:t>
            </a:r>
          </a:p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Trực quan hóa dữ liệu bằng biểu đồ.</a:t>
            </a:r>
          </a:p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Tích hợp AI Gemini hỗ trợ tư vấn học tập.</a:t>
            </a:r>
          </a:p>
          <a:p>
            <a:pPr algn="l">
              <a:lnSpc>
                <a:spcPts val="445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68443" y="2776133"/>
            <a:ext cx="7900562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Hệ thống chỉ hỗ trợ hai vai trò sinh viên và cố vấn học tập.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Sinh viên: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Xem điểm, học phần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Theo dõi PLO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 với AI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Cố vấn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Quản lý lớp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Theo dõi học lực sinh viên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Thống kê chuẩn đầu ra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62277" y="7447522"/>
            <a:ext cx="7851251" cy="223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Hồ sơ năng lực điện tử (e-Portfolio).</a:t>
            </a:r>
          </a:p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Quy trình cố vấn học tập.</a:t>
            </a:r>
          </a:p>
          <a:p>
            <a:pPr algn="l" marL="686787" indent="-343394" lvl="1">
              <a:lnSpc>
                <a:spcPts val="4453"/>
              </a:lnSpc>
              <a:buFont typeface="Arial"/>
              <a:buChar char="•"/>
            </a:pPr>
            <a:r>
              <a:rPr lang="en-US" sz="31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 hỗ trợ tư vấn học tập.</a:t>
            </a:r>
          </a:p>
          <a:p>
            <a:pPr algn="l">
              <a:lnSpc>
                <a:spcPts val="445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66096" y="32446"/>
            <a:ext cx="7506883" cy="1859771"/>
            <a:chOff x="0" y="0"/>
            <a:chExt cx="1977121" cy="48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7122" cy="489816"/>
            </a:xfrm>
            <a:custGeom>
              <a:avLst/>
              <a:gdLst/>
              <a:ahLst/>
              <a:cxnLst/>
              <a:rect r="r" b="b" t="t" l="l"/>
              <a:pathLst>
                <a:path h="489816" w="1977122">
                  <a:moveTo>
                    <a:pt x="0" y="0"/>
                  </a:moveTo>
                  <a:lnTo>
                    <a:pt x="1977122" y="0"/>
                  </a:lnTo>
                  <a:lnTo>
                    <a:pt x="1977122" y="489816"/>
                  </a:lnTo>
                  <a:lnTo>
                    <a:pt x="0" y="489816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7121" cy="527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57409" y="459492"/>
            <a:ext cx="570392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Cơ sở lý thuyết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78131" y="7651469"/>
            <a:ext cx="3213661" cy="3213661"/>
          </a:xfrm>
          <a:custGeom>
            <a:avLst/>
            <a:gdLst/>
            <a:ahLst/>
            <a:cxnLst/>
            <a:rect r="r" b="b" t="t" l="l"/>
            <a:pathLst>
              <a:path h="3213661" w="3213661">
                <a:moveTo>
                  <a:pt x="0" y="0"/>
                </a:moveTo>
                <a:lnTo>
                  <a:pt x="3213662" y="0"/>
                </a:lnTo>
                <a:lnTo>
                  <a:pt x="3213662" y="3213662"/>
                </a:lnTo>
                <a:lnTo>
                  <a:pt x="0" y="3213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35919" y="270525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835919" y="7651469"/>
            <a:ext cx="3213661" cy="3213661"/>
          </a:xfrm>
          <a:custGeom>
            <a:avLst/>
            <a:gdLst/>
            <a:ahLst/>
            <a:cxnLst/>
            <a:rect r="r" b="b" t="t" l="l"/>
            <a:pathLst>
              <a:path h="3213661" w="3213661">
                <a:moveTo>
                  <a:pt x="3213661" y="0"/>
                </a:moveTo>
                <a:lnTo>
                  <a:pt x="0" y="0"/>
                </a:lnTo>
                <a:lnTo>
                  <a:pt x="0" y="3213662"/>
                </a:lnTo>
                <a:lnTo>
                  <a:pt x="3213661" y="3213662"/>
                </a:lnTo>
                <a:lnTo>
                  <a:pt x="32136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29411" y="2659588"/>
            <a:ext cx="5194491" cy="881008"/>
            <a:chOff x="0" y="0"/>
            <a:chExt cx="1368096" cy="2320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8096" cy="232035"/>
            </a:xfrm>
            <a:custGeom>
              <a:avLst/>
              <a:gdLst/>
              <a:ahLst/>
              <a:cxnLst/>
              <a:rect r="r" b="b" t="t" l="l"/>
              <a:pathLst>
                <a:path h="232035" w="1368096">
                  <a:moveTo>
                    <a:pt x="58126" y="0"/>
                  </a:moveTo>
                  <a:lnTo>
                    <a:pt x="1309970" y="0"/>
                  </a:lnTo>
                  <a:cubicBezTo>
                    <a:pt x="1342073" y="0"/>
                    <a:pt x="1368096" y="26024"/>
                    <a:pt x="1368096" y="58126"/>
                  </a:cubicBezTo>
                  <a:lnTo>
                    <a:pt x="1368096" y="173909"/>
                  </a:lnTo>
                  <a:cubicBezTo>
                    <a:pt x="1368096" y="206011"/>
                    <a:pt x="1342073" y="232035"/>
                    <a:pt x="1309970" y="232035"/>
                  </a:cubicBezTo>
                  <a:lnTo>
                    <a:pt x="58126" y="232035"/>
                  </a:lnTo>
                  <a:cubicBezTo>
                    <a:pt x="26024" y="232035"/>
                    <a:pt x="0" y="206011"/>
                    <a:pt x="0" y="173909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368096" cy="31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e-Portfolio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98952" y="2659588"/>
            <a:ext cx="5194491" cy="881008"/>
            <a:chOff x="0" y="0"/>
            <a:chExt cx="1368096" cy="2320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8096" cy="232035"/>
            </a:xfrm>
            <a:custGeom>
              <a:avLst/>
              <a:gdLst/>
              <a:ahLst/>
              <a:cxnLst/>
              <a:rect r="r" b="b" t="t" l="l"/>
              <a:pathLst>
                <a:path h="232035" w="1368096">
                  <a:moveTo>
                    <a:pt x="58126" y="0"/>
                  </a:moveTo>
                  <a:lnTo>
                    <a:pt x="1309970" y="0"/>
                  </a:lnTo>
                  <a:cubicBezTo>
                    <a:pt x="1342073" y="0"/>
                    <a:pt x="1368096" y="26024"/>
                    <a:pt x="1368096" y="58126"/>
                  </a:cubicBezTo>
                  <a:lnTo>
                    <a:pt x="1368096" y="173909"/>
                  </a:lnTo>
                  <a:cubicBezTo>
                    <a:pt x="1368096" y="206011"/>
                    <a:pt x="1342073" y="232035"/>
                    <a:pt x="1309970" y="232035"/>
                  </a:cubicBezTo>
                  <a:lnTo>
                    <a:pt x="58126" y="232035"/>
                  </a:lnTo>
                  <a:cubicBezTo>
                    <a:pt x="26024" y="232035"/>
                    <a:pt x="0" y="206011"/>
                    <a:pt x="0" y="173909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368096" cy="31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Chuẩn đầu ra cLO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06684" y="2659588"/>
            <a:ext cx="5194491" cy="881008"/>
            <a:chOff x="0" y="0"/>
            <a:chExt cx="1368096" cy="2320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8096" cy="232035"/>
            </a:xfrm>
            <a:custGeom>
              <a:avLst/>
              <a:gdLst/>
              <a:ahLst/>
              <a:cxnLst/>
              <a:rect r="r" b="b" t="t" l="l"/>
              <a:pathLst>
                <a:path h="232035" w="1368096">
                  <a:moveTo>
                    <a:pt x="58126" y="0"/>
                  </a:moveTo>
                  <a:lnTo>
                    <a:pt x="1309970" y="0"/>
                  </a:lnTo>
                  <a:cubicBezTo>
                    <a:pt x="1342073" y="0"/>
                    <a:pt x="1368096" y="26024"/>
                    <a:pt x="1368096" y="58126"/>
                  </a:cubicBezTo>
                  <a:lnTo>
                    <a:pt x="1368096" y="173909"/>
                  </a:lnTo>
                  <a:cubicBezTo>
                    <a:pt x="1368096" y="206011"/>
                    <a:pt x="1342073" y="232035"/>
                    <a:pt x="1309970" y="232035"/>
                  </a:cubicBezTo>
                  <a:lnTo>
                    <a:pt x="58126" y="232035"/>
                  </a:lnTo>
                  <a:cubicBezTo>
                    <a:pt x="26024" y="232035"/>
                    <a:pt x="0" y="206011"/>
                    <a:pt x="0" y="173909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368096" cy="31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Chuẩn đầu ra PLO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7166" y="4254972"/>
            <a:ext cx="5638981" cy="423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Là hồ sơ năng lực điện tử lưu trữ quá trình học tập và phát triển của sinh viên.</a:t>
            </a:r>
          </a:p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Đề tài thuộc loại Learning Portfolio.</a:t>
            </a:r>
          </a:p>
          <a:p>
            <a:pPr algn="l">
              <a:lnSpc>
                <a:spcPts val="487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324509" y="4254972"/>
            <a:ext cx="5638981" cy="423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Là năng lực sinh viên cần đạt sau khi tốt nghiệp.</a:t>
            </a:r>
          </a:p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Bao gồm kiến thức, kỹ năng và năng lực tự chủ.</a:t>
            </a:r>
          </a:p>
          <a:p>
            <a:pPr algn="l">
              <a:lnSpc>
                <a:spcPts val="487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484439" y="4254972"/>
            <a:ext cx="5638981" cy="301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Là kết quả học tập của từng học phần.</a:t>
            </a:r>
          </a:p>
          <a:p>
            <a:pPr algn="l" marL="751555" indent="-375778" lvl="1">
              <a:lnSpc>
                <a:spcPts val="4873"/>
              </a:lnSpc>
              <a:buFont typeface="Arial"/>
              <a:buChar char="•"/>
            </a:pPr>
            <a:r>
              <a:rPr lang="en-US" sz="34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 đóng góp trực tiếp vào việc đạt được PLO.</a:t>
            </a:r>
          </a:p>
          <a:p>
            <a:pPr algn="l">
              <a:lnSpc>
                <a:spcPts val="487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66096" y="32446"/>
            <a:ext cx="7506883" cy="1859771"/>
            <a:chOff x="0" y="0"/>
            <a:chExt cx="1977121" cy="48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7122" cy="489816"/>
            </a:xfrm>
            <a:custGeom>
              <a:avLst/>
              <a:gdLst/>
              <a:ahLst/>
              <a:cxnLst/>
              <a:rect r="r" b="b" t="t" l="l"/>
              <a:pathLst>
                <a:path h="489816" w="1977122">
                  <a:moveTo>
                    <a:pt x="0" y="0"/>
                  </a:moveTo>
                  <a:lnTo>
                    <a:pt x="1977122" y="0"/>
                  </a:lnTo>
                  <a:lnTo>
                    <a:pt x="1977122" y="489816"/>
                  </a:lnTo>
                  <a:lnTo>
                    <a:pt x="0" y="489816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7121" cy="527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78131" y="7651469"/>
            <a:ext cx="3213661" cy="3213661"/>
          </a:xfrm>
          <a:custGeom>
            <a:avLst/>
            <a:gdLst/>
            <a:ahLst/>
            <a:cxnLst/>
            <a:rect r="r" b="b" t="t" l="l"/>
            <a:pathLst>
              <a:path h="3213661" w="3213661">
                <a:moveTo>
                  <a:pt x="0" y="0"/>
                </a:moveTo>
                <a:lnTo>
                  <a:pt x="3213662" y="0"/>
                </a:lnTo>
                <a:lnTo>
                  <a:pt x="3213662" y="3213662"/>
                </a:lnTo>
                <a:lnTo>
                  <a:pt x="0" y="3213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35919" y="270525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835919" y="7651469"/>
            <a:ext cx="3213661" cy="3213661"/>
          </a:xfrm>
          <a:custGeom>
            <a:avLst/>
            <a:gdLst/>
            <a:ahLst/>
            <a:cxnLst/>
            <a:rect r="r" b="b" t="t" l="l"/>
            <a:pathLst>
              <a:path h="3213661" w="3213661">
                <a:moveTo>
                  <a:pt x="3213661" y="0"/>
                </a:moveTo>
                <a:lnTo>
                  <a:pt x="0" y="0"/>
                </a:lnTo>
                <a:lnTo>
                  <a:pt x="0" y="3213662"/>
                </a:lnTo>
                <a:lnTo>
                  <a:pt x="3213661" y="3213662"/>
                </a:lnTo>
                <a:lnTo>
                  <a:pt x="32136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441697" y="3589259"/>
            <a:ext cx="2704083" cy="1137418"/>
            <a:chOff x="0" y="0"/>
            <a:chExt cx="712187" cy="299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2187" cy="299567"/>
            </a:xfrm>
            <a:custGeom>
              <a:avLst/>
              <a:gdLst/>
              <a:ahLst/>
              <a:cxnLst/>
              <a:rect r="r" b="b" t="t" l="l"/>
              <a:pathLst>
                <a:path h="299567" w="712187">
                  <a:moveTo>
                    <a:pt x="51535" y="0"/>
                  </a:moveTo>
                  <a:lnTo>
                    <a:pt x="660652" y="0"/>
                  </a:lnTo>
                  <a:cubicBezTo>
                    <a:pt x="674320" y="0"/>
                    <a:pt x="687428" y="5430"/>
                    <a:pt x="697092" y="15094"/>
                  </a:cubicBezTo>
                  <a:cubicBezTo>
                    <a:pt x="706757" y="24759"/>
                    <a:pt x="712187" y="37867"/>
                    <a:pt x="712187" y="51535"/>
                  </a:cubicBezTo>
                  <a:lnTo>
                    <a:pt x="712187" y="248032"/>
                  </a:lnTo>
                  <a:cubicBezTo>
                    <a:pt x="712187" y="261700"/>
                    <a:pt x="706757" y="274808"/>
                    <a:pt x="697092" y="284473"/>
                  </a:cubicBezTo>
                  <a:cubicBezTo>
                    <a:pt x="687428" y="294137"/>
                    <a:pt x="674320" y="299567"/>
                    <a:pt x="660652" y="299567"/>
                  </a:cubicBezTo>
                  <a:lnTo>
                    <a:pt x="51535" y="299567"/>
                  </a:lnTo>
                  <a:cubicBezTo>
                    <a:pt x="37867" y="299567"/>
                    <a:pt x="24759" y="294137"/>
                    <a:pt x="15094" y="284473"/>
                  </a:cubicBezTo>
                  <a:cubicBezTo>
                    <a:pt x="5430" y="274808"/>
                    <a:pt x="0" y="261700"/>
                    <a:pt x="0" y="248032"/>
                  </a:cubicBezTo>
                  <a:lnTo>
                    <a:pt x="0" y="51535"/>
                  </a:lnTo>
                  <a:cubicBezTo>
                    <a:pt x="0" y="37867"/>
                    <a:pt x="5430" y="24759"/>
                    <a:pt x="15094" y="15094"/>
                  </a:cubicBezTo>
                  <a:cubicBezTo>
                    <a:pt x="24759" y="5430"/>
                    <a:pt x="37867" y="0"/>
                    <a:pt x="51535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2187" cy="35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3296" y="8433754"/>
            <a:ext cx="2704083" cy="1105785"/>
            <a:chOff x="0" y="0"/>
            <a:chExt cx="712187" cy="2912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2187" cy="291236"/>
            </a:xfrm>
            <a:custGeom>
              <a:avLst/>
              <a:gdLst/>
              <a:ahLst/>
              <a:cxnLst/>
              <a:rect r="r" b="b" t="t" l="l"/>
              <a:pathLst>
                <a:path h="291236" w="712187">
                  <a:moveTo>
                    <a:pt x="51535" y="0"/>
                  </a:moveTo>
                  <a:lnTo>
                    <a:pt x="660652" y="0"/>
                  </a:lnTo>
                  <a:cubicBezTo>
                    <a:pt x="674320" y="0"/>
                    <a:pt x="687428" y="5430"/>
                    <a:pt x="697092" y="15094"/>
                  </a:cubicBezTo>
                  <a:cubicBezTo>
                    <a:pt x="706757" y="24759"/>
                    <a:pt x="712187" y="37867"/>
                    <a:pt x="712187" y="51535"/>
                  </a:cubicBezTo>
                  <a:lnTo>
                    <a:pt x="712187" y="239701"/>
                  </a:lnTo>
                  <a:cubicBezTo>
                    <a:pt x="712187" y="253369"/>
                    <a:pt x="706757" y="266477"/>
                    <a:pt x="697092" y="276141"/>
                  </a:cubicBezTo>
                  <a:cubicBezTo>
                    <a:pt x="687428" y="285806"/>
                    <a:pt x="674320" y="291236"/>
                    <a:pt x="660652" y="291236"/>
                  </a:cubicBezTo>
                  <a:lnTo>
                    <a:pt x="51535" y="291236"/>
                  </a:lnTo>
                  <a:cubicBezTo>
                    <a:pt x="37867" y="291236"/>
                    <a:pt x="24759" y="285806"/>
                    <a:pt x="15094" y="276141"/>
                  </a:cubicBezTo>
                  <a:cubicBezTo>
                    <a:pt x="5430" y="266477"/>
                    <a:pt x="0" y="253369"/>
                    <a:pt x="0" y="239701"/>
                  </a:cubicBezTo>
                  <a:lnTo>
                    <a:pt x="0" y="51535"/>
                  </a:lnTo>
                  <a:cubicBezTo>
                    <a:pt x="0" y="37867"/>
                    <a:pt x="5430" y="24759"/>
                    <a:pt x="15094" y="15094"/>
                  </a:cubicBezTo>
                  <a:cubicBezTo>
                    <a:pt x="24759" y="5430"/>
                    <a:pt x="37867" y="0"/>
                    <a:pt x="51535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12187" cy="348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78464" y="5864094"/>
            <a:ext cx="1933748" cy="1226635"/>
            <a:chOff x="0" y="0"/>
            <a:chExt cx="509300" cy="323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300" cy="323064"/>
            </a:xfrm>
            <a:custGeom>
              <a:avLst/>
              <a:gdLst/>
              <a:ahLst/>
              <a:cxnLst/>
              <a:rect r="r" b="b" t="t" l="l"/>
              <a:pathLst>
                <a:path h="323064" w="509300">
                  <a:moveTo>
                    <a:pt x="72065" y="0"/>
                  </a:moveTo>
                  <a:lnTo>
                    <a:pt x="437235" y="0"/>
                  </a:lnTo>
                  <a:cubicBezTo>
                    <a:pt x="456348" y="0"/>
                    <a:pt x="474678" y="7592"/>
                    <a:pt x="488193" y="21107"/>
                  </a:cubicBezTo>
                  <a:cubicBezTo>
                    <a:pt x="501707" y="34622"/>
                    <a:pt x="509300" y="52952"/>
                    <a:pt x="509300" y="72065"/>
                  </a:cubicBezTo>
                  <a:lnTo>
                    <a:pt x="509300" y="251000"/>
                  </a:lnTo>
                  <a:cubicBezTo>
                    <a:pt x="509300" y="270112"/>
                    <a:pt x="501707" y="288442"/>
                    <a:pt x="488193" y="301957"/>
                  </a:cubicBezTo>
                  <a:cubicBezTo>
                    <a:pt x="474678" y="315472"/>
                    <a:pt x="456348" y="323064"/>
                    <a:pt x="437235" y="323064"/>
                  </a:cubicBezTo>
                  <a:lnTo>
                    <a:pt x="72065" y="323064"/>
                  </a:lnTo>
                  <a:cubicBezTo>
                    <a:pt x="52952" y="323064"/>
                    <a:pt x="34622" y="315472"/>
                    <a:pt x="21107" y="301957"/>
                  </a:cubicBezTo>
                  <a:cubicBezTo>
                    <a:pt x="7592" y="288442"/>
                    <a:pt x="0" y="270112"/>
                    <a:pt x="0" y="251000"/>
                  </a:cubicBezTo>
                  <a:lnTo>
                    <a:pt x="0" y="72065"/>
                  </a:lnTo>
                  <a:cubicBezTo>
                    <a:pt x="0" y="52952"/>
                    <a:pt x="7592" y="34622"/>
                    <a:pt x="21107" y="21107"/>
                  </a:cubicBezTo>
                  <a:cubicBezTo>
                    <a:pt x="34622" y="7592"/>
                    <a:pt x="52952" y="0"/>
                    <a:pt x="72065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09300" cy="38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763412" y="2963300"/>
            <a:ext cx="2060652" cy="1371270"/>
          </a:xfrm>
          <a:custGeom>
            <a:avLst/>
            <a:gdLst/>
            <a:ahLst/>
            <a:cxnLst/>
            <a:rect r="r" b="b" t="t" l="l"/>
            <a:pathLst>
              <a:path h="1371270" w="2060652">
                <a:moveTo>
                  <a:pt x="0" y="0"/>
                </a:moveTo>
                <a:lnTo>
                  <a:pt x="2060652" y="0"/>
                </a:lnTo>
                <a:lnTo>
                  <a:pt x="2060652" y="1371271"/>
                </a:lnTo>
                <a:lnTo>
                  <a:pt x="0" y="1371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03311" y="5677655"/>
            <a:ext cx="1484052" cy="871184"/>
          </a:xfrm>
          <a:custGeom>
            <a:avLst/>
            <a:gdLst/>
            <a:ahLst/>
            <a:cxnLst/>
            <a:rect r="r" b="b" t="t" l="l"/>
            <a:pathLst>
              <a:path h="871184" w="1484052">
                <a:moveTo>
                  <a:pt x="0" y="0"/>
                </a:moveTo>
                <a:lnTo>
                  <a:pt x="1484053" y="0"/>
                </a:lnTo>
                <a:lnTo>
                  <a:pt x="1484053" y="871185"/>
                </a:lnTo>
                <a:lnTo>
                  <a:pt x="0" y="871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84955" y="8043229"/>
            <a:ext cx="2120764" cy="1154599"/>
          </a:xfrm>
          <a:custGeom>
            <a:avLst/>
            <a:gdLst/>
            <a:ahLst/>
            <a:cxnLst/>
            <a:rect r="r" b="b" t="t" l="l"/>
            <a:pathLst>
              <a:path h="1154599" w="2120764">
                <a:moveTo>
                  <a:pt x="0" y="0"/>
                </a:moveTo>
                <a:lnTo>
                  <a:pt x="2120765" y="0"/>
                </a:lnTo>
                <a:lnTo>
                  <a:pt x="2120765" y="1154599"/>
                </a:lnTo>
                <a:lnTo>
                  <a:pt x="0" y="11545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30" r="0" b="-143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36443" y="4483327"/>
            <a:ext cx="4429653" cy="1137418"/>
            <a:chOff x="0" y="0"/>
            <a:chExt cx="1166658" cy="2995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6658" cy="299567"/>
            </a:xfrm>
            <a:custGeom>
              <a:avLst/>
              <a:gdLst/>
              <a:ahLst/>
              <a:cxnLst/>
              <a:rect r="r" b="b" t="t" l="l"/>
              <a:pathLst>
                <a:path h="299567" w="1166658">
                  <a:moveTo>
                    <a:pt x="31459" y="0"/>
                  </a:moveTo>
                  <a:lnTo>
                    <a:pt x="1135198" y="0"/>
                  </a:lnTo>
                  <a:cubicBezTo>
                    <a:pt x="1143542" y="0"/>
                    <a:pt x="1151543" y="3314"/>
                    <a:pt x="1157443" y="9214"/>
                  </a:cubicBezTo>
                  <a:cubicBezTo>
                    <a:pt x="1163343" y="15114"/>
                    <a:pt x="1166658" y="23116"/>
                    <a:pt x="1166658" y="31459"/>
                  </a:cubicBezTo>
                  <a:lnTo>
                    <a:pt x="1166658" y="268107"/>
                  </a:lnTo>
                  <a:cubicBezTo>
                    <a:pt x="1166658" y="285482"/>
                    <a:pt x="1152573" y="299567"/>
                    <a:pt x="1135198" y="299567"/>
                  </a:cubicBezTo>
                  <a:lnTo>
                    <a:pt x="31459" y="299567"/>
                  </a:lnTo>
                  <a:cubicBezTo>
                    <a:pt x="23116" y="299567"/>
                    <a:pt x="15114" y="296252"/>
                    <a:pt x="9214" y="290353"/>
                  </a:cubicBezTo>
                  <a:cubicBezTo>
                    <a:pt x="3314" y="284453"/>
                    <a:pt x="0" y="276451"/>
                    <a:pt x="0" y="268107"/>
                  </a:cubicBezTo>
                  <a:lnTo>
                    <a:pt x="0" y="31459"/>
                  </a:lnTo>
                  <a:cubicBezTo>
                    <a:pt x="0" y="23116"/>
                    <a:pt x="3314" y="15114"/>
                    <a:pt x="9214" y="9214"/>
                  </a:cubicBezTo>
                  <a:cubicBezTo>
                    <a:pt x="15114" y="3314"/>
                    <a:pt x="23116" y="0"/>
                    <a:pt x="31459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66658" cy="35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74966" y="3488660"/>
            <a:ext cx="3552607" cy="1634804"/>
            <a:chOff x="0" y="0"/>
            <a:chExt cx="1665934" cy="7666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5934" cy="766613"/>
            </a:xfrm>
            <a:custGeom>
              <a:avLst/>
              <a:gdLst/>
              <a:ahLst/>
              <a:cxnLst/>
              <a:rect r="r" b="b" t="t" l="l"/>
              <a:pathLst>
                <a:path h="766613" w="1665934">
                  <a:moveTo>
                    <a:pt x="0" y="0"/>
                  </a:moveTo>
                  <a:lnTo>
                    <a:pt x="1665934" y="0"/>
                  </a:lnTo>
                  <a:lnTo>
                    <a:pt x="1665934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9"/>
              <a:stretch>
                <a:fillRect l="0" t="-22305" r="0" b="-2230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36443" y="7354834"/>
            <a:ext cx="4429653" cy="1137418"/>
            <a:chOff x="0" y="0"/>
            <a:chExt cx="1166658" cy="2995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6658" cy="299567"/>
            </a:xfrm>
            <a:custGeom>
              <a:avLst/>
              <a:gdLst/>
              <a:ahLst/>
              <a:cxnLst/>
              <a:rect r="r" b="b" t="t" l="l"/>
              <a:pathLst>
                <a:path h="299567" w="1166658">
                  <a:moveTo>
                    <a:pt x="31459" y="0"/>
                  </a:moveTo>
                  <a:lnTo>
                    <a:pt x="1135198" y="0"/>
                  </a:lnTo>
                  <a:cubicBezTo>
                    <a:pt x="1143542" y="0"/>
                    <a:pt x="1151543" y="3314"/>
                    <a:pt x="1157443" y="9214"/>
                  </a:cubicBezTo>
                  <a:cubicBezTo>
                    <a:pt x="1163343" y="15114"/>
                    <a:pt x="1166658" y="23116"/>
                    <a:pt x="1166658" y="31459"/>
                  </a:cubicBezTo>
                  <a:lnTo>
                    <a:pt x="1166658" y="268107"/>
                  </a:lnTo>
                  <a:cubicBezTo>
                    <a:pt x="1166658" y="285482"/>
                    <a:pt x="1152573" y="299567"/>
                    <a:pt x="1135198" y="299567"/>
                  </a:cubicBezTo>
                  <a:lnTo>
                    <a:pt x="31459" y="299567"/>
                  </a:lnTo>
                  <a:cubicBezTo>
                    <a:pt x="23116" y="299567"/>
                    <a:pt x="15114" y="296252"/>
                    <a:pt x="9214" y="290353"/>
                  </a:cubicBezTo>
                  <a:cubicBezTo>
                    <a:pt x="3314" y="284453"/>
                    <a:pt x="0" y="276451"/>
                    <a:pt x="0" y="268107"/>
                  </a:cubicBezTo>
                  <a:lnTo>
                    <a:pt x="0" y="31459"/>
                  </a:lnTo>
                  <a:cubicBezTo>
                    <a:pt x="0" y="23116"/>
                    <a:pt x="3314" y="15114"/>
                    <a:pt x="9214" y="9214"/>
                  </a:cubicBezTo>
                  <a:cubicBezTo>
                    <a:pt x="15114" y="3314"/>
                    <a:pt x="23116" y="0"/>
                    <a:pt x="31459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166658" cy="35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171251" y="6395863"/>
            <a:ext cx="3456322" cy="1728161"/>
          </a:xfrm>
          <a:custGeom>
            <a:avLst/>
            <a:gdLst/>
            <a:ahLst/>
            <a:cxnLst/>
            <a:rect r="r" b="b" t="t" l="l"/>
            <a:pathLst>
              <a:path h="1728161" w="3456322">
                <a:moveTo>
                  <a:pt x="0" y="0"/>
                </a:moveTo>
                <a:lnTo>
                  <a:pt x="3456322" y="0"/>
                </a:lnTo>
                <a:lnTo>
                  <a:pt x="3456322" y="1728161"/>
                </a:lnTo>
                <a:lnTo>
                  <a:pt x="0" y="17281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955655" y="4341052"/>
            <a:ext cx="4429653" cy="1031503"/>
            <a:chOff x="0" y="0"/>
            <a:chExt cx="1166658" cy="271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6658" cy="271672"/>
            </a:xfrm>
            <a:custGeom>
              <a:avLst/>
              <a:gdLst/>
              <a:ahLst/>
              <a:cxnLst/>
              <a:rect r="r" b="b" t="t" l="l"/>
              <a:pathLst>
                <a:path h="271672" w="1166658">
                  <a:moveTo>
                    <a:pt x="31459" y="0"/>
                  </a:moveTo>
                  <a:lnTo>
                    <a:pt x="1135198" y="0"/>
                  </a:lnTo>
                  <a:cubicBezTo>
                    <a:pt x="1143542" y="0"/>
                    <a:pt x="1151543" y="3314"/>
                    <a:pt x="1157443" y="9214"/>
                  </a:cubicBezTo>
                  <a:cubicBezTo>
                    <a:pt x="1163343" y="15114"/>
                    <a:pt x="1166658" y="23116"/>
                    <a:pt x="1166658" y="31459"/>
                  </a:cubicBezTo>
                  <a:lnTo>
                    <a:pt x="1166658" y="240212"/>
                  </a:lnTo>
                  <a:cubicBezTo>
                    <a:pt x="1166658" y="257587"/>
                    <a:pt x="1152573" y="271672"/>
                    <a:pt x="1135198" y="271672"/>
                  </a:cubicBezTo>
                  <a:lnTo>
                    <a:pt x="31459" y="271672"/>
                  </a:lnTo>
                  <a:cubicBezTo>
                    <a:pt x="23116" y="271672"/>
                    <a:pt x="15114" y="268357"/>
                    <a:pt x="9214" y="262457"/>
                  </a:cubicBezTo>
                  <a:cubicBezTo>
                    <a:pt x="3314" y="256557"/>
                    <a:pt x="0" y="248556"/>
                    <a:pt x="0" y="240212"/>
                  </a:cubicBezTo>
                  <a:lnTo>
                    <a:pt x="0" y="31459"/>
                  </a:lnTo>
                  <a:cubicBezTo>
                    <a:pt x="0" y="23116"/>
                    <a:pt x="3314" y="15114"/>
                    <a:pt x="9214" y="9214"/>
                  </a:cubicBezTo>
                  <a:cubicBezTo>
                    <a:pt x="15114" y="3314"/>
                    <a:pt x="23116" y="0"/>
                    <a:pt x="31459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166658" cy="328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3779654" y="3565492"/>
            <a:ext cx="3088893" cy="1571438"/>
          </a:xfrm>
          <a:custGeom>
            <a:avLst/>
            <a:gdLst/>
            <a:ahLst/>
            <a:cxnLst/>
            <a:rect r="r" b="b" t="t" l="l"/>
            <a:pathLst>
              <a:path h="1571438" w="3088893">
                <a:moveTo>
                  <a:pt x="0" y="0"/>
                </a:moveTo>
                <a:lnTo>
                  <a:pt x="3088893" y="0"/>
                </a:lnTo>
                <a:lnTo>
                  <a:pt x="3088893" y="1571438"/>
                </a:lnTo>
                <a:lnTo>
                  <a:pt x="0" y="1571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134" r="0" b="-5134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109274" y="7460749"/>
            <a:ext cx="4429653" cy="1031503"/>
            <a:chOff x="0" y="0"/>
            <a:chExt cx="1166658" cy="2716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6658" cy="271672"/>
            </a:xfrm>
            <a:custGeom>
              <a:avLst/>
              <a:gdLst/>
              <a:ahLst/>
              <a:cxnLst/>
              <a:rect r="r" b="b" t="t" l="l"/>
              <a:pathLst>
                <a:path h="271672" w="1166658">
                  <a:moveTo>
                    <a:pt x="31459" y="0"/>
                  </a:moveTo>
                  <a:lnTo>
                    <a:pt x="1135198" y="0"/>
                  </a:lnTo>
                  <a:cubicBezTo>
                    <a:pt x="1143542" y="0"/>
                    <a:pt x="1151543" y="3314"/>
                    <a:pt x="1157443" y="9214"/>
                  </a:cubicBezTo>
                  <a:cubicBezTo>
                    <a:pt x="1163343" y="15114"/>
                    <a:pt x="1166658" y="23116"/>
                    <a:pt x="1166658" y="31459"/>
                  </a:cubicBezTo>
                  <a:lnTo>
                    <a:pt x="1166658" y="240212"/>
                  </a:lnTo>
                  <a:cubicBezTo>
                    <a:pt x="1166658" y="257587"/>
                    <a:pt x="1152573" y="271672"/>
                    <a:pt x="1135198" y="271672"/>
                  </a:cubicBezTo>
                  <a:lnTo>
                    <a:pt x="31459" y="271672"/>
                  </a:lnTo>
                  <a:cubicBezTo>
                    <a:pt x="23116" y="271672"/>
                    <a:pt x="15114" y="268357"/>
                    <a:pt x="9214" y="262457"/>
                  </a:cubicBezTo>
                  <a:cubicBezTo>
                    <a:pt x="3314" y="256557"/>
                    <a:pt x="0" y="248556"/>
                    <a:pt x="0" y="240212"/>
                  </a:cubicBezTo>
                  <a:lnTo>
                    <a:pt x="0" y="31459"/>
                  </a:lnTo>
                  <a:cubicBezTo>
                    <a:pt x="0" y="23116"/>
                    <a:pt x="3314" y="15114"/>
                    <a:pt x="9214" y="9214"/>
                  </a:cubicBezTo>
                  <a:cubicBezTo>
                    <a:pt x="15114" y="3314"/>
                    <a:pt x="23116" y="0"/>
                    <a:pt x="31459" y="0"/>
                  </a:cubicBez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66658" cy="328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3779654" y="6253237"/>
            <a:ext cx="3088893" cy="1932765"/>
          </a:xfrm>
          <a:custGeom>
            <a:avLst/>
            <a:gdLst/>
            <a:ahLst/>
            <a:cxnLst/>
            <a:rect r="r" b="b" t="t" l="l"/>
            <a:pathLst>
              <a:path h="1932765" w="3088893">
                <a:moveTo>
                  <a:pt x="0" y="0"/>
                </a:moveTo>
                <a:lnTo>
                  <a:pt x="3088893" y="0"/>
                </a:lnTo>
                <a:lnTo>
                  <a:pt x="3088893" y="1932765"/>
                </a:lnTo>
                <a:lnTo>
                  <a:pt x="0" y="19327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757409" y="459492"/>
            <a:ext cx="570392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Cơ sở lý thuyết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0452" y="2305625"/>
            <a:ext cx="15157548" cy="7981375"/>
            <a:chOff x="0" y="0"/>
            <a:chExt cx="3992112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111" cy="2102090"/>
            </a:xfrm>
            <a:custGeom>
              <a:avLst/>
              <a:gdLst/>
              <a:ahLst/>
              <a:cxnLst/>
              <a:rect r="r" b="b" t="t" l="l"/>
              <a:pathLst>
                <a:path h="2102090" w="3992111">
                  <a:moveTo>
                    <a:pt x="19920" y="0"/>
                  </a:moveTo>
                  <a:lnTo>
                    <a:pt x="3972192" y="0"/>
                  </a:lnTo>
                  <a:cubicBezTo>
                    <a:pt x="3977475" y="0"/>
                    <a:pt x="3982541" y="2099"/>
                    <a:pt x="3986277" y="5834"/>
                  </a:cubicBezTo>
                  <a:cubicBezTo>
                    <a:pt x="3990013" y="9570"/>
                    <a:pt x="3992111" y="14637"/>
                    <a:pt x="3992111" y="19920"/>
                  </a:cubicBezTo>
                  <a:lnTo>
                    <a:pt x="3992111" y="2082171"/>
                  </a:lnTo>
                  <a:cubicBezTo>
                    <a:pt x="3992111" y="2087454"/>
                    <a:pt x="3990013" y="2092521"/>
                    <a:pt x="3986277" y="2096256"/>
                  </a:cubicBezTo>
                  <a:cubicBezTo>
                    <a:pt x="3982541" y="2099992"/>
                    <a:pt x="3977475" y="2102090"/>
                    <a:pt x="3972192" y="2102090"/>
                  </a:cubicBezTo>
                  <a:lnTo>
                    <a:pt x="19920" y="2102090"/>
                  </a:lnTo>
                  <a:cubicBezTo>
                    <a:pt x="8918" y="2102090"/>
                    <a:pt x="0" y="2093172"/>
                    <a:pt x="0" y="2082171"/>
                  </a:cubicBezTo>
                  <a:lnTo>
                    <a:pt x="0" y="19920"/>
                  </a:lnTo>
                  <a:cubicBezTo>
                    <a:pt x="0" y="14637"/>
                    <a:pt x="2099" y="9570"/>
                    <a:pt x="5834" y="5834"/>
                  </a:cubicBezTo>
                  <a:cubicBezTo>
                    <a:pt x="9570" y="2099"/>
                    <a:pt x="14637" y="0"/>
                    <a:pt x="19920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112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Hiện thực hóa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68002" y="1589250"/>
            <a:ext cx="14482447" cy="8709723"/>
          </a:xfrm>
          <a:custGeom>
            <a:avLst/>
            <a:gdLst/>
            <a:ahLst/>
            <a:cxnLst/>
            <a:rect r="r" b="b" t="t" l="l"/>
            <a:pathLst>
              <a:path h="8709723" w="14482447">
                <a:moveTo>
                  <a:pt x="0" y="0"/>
                </a:moveTo>
                <a:lnTo>
                  <a:pt x="14482447" y="0"/>
                </a:lnTo>
                <a:lnTo>
                  <a:pt x="14482447" y="8709724"/>
                </a:lnTo>
                <a:lnTo>
                  <a:pt x="0" y="870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5683" y="3227312"/>
            <a:ext cx="1853941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Mô hình ERD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0452" y="2305625"/>
            <a:ext cx="15157548" cy="7981375"/>
            <a:chOff x="0" y="0"/>
            <a:chExt cx="3992112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111" cy="2102090"/>
            </a:xfrm>
            <a:custGeom>
              <a:avLst/>
              <a:gdLst/>
              <a:ahLst/>
              <a:cxnLst/>
              <a:rect r="r" b="b" t="t" l="l"/>
              <a:pathLst>
                <a:path h="2102090" w="3992111">
                  <a:moveTo>
                    <a:pt x="19920" y="0"/>
                  </a:moveTo>
                  <a:lnTo>
                    <a:pt x="3972192" y="0"/>
                  </a:lnTo>
                  <a:cubicBezTo>
                    <a:pt x="3977475" y="0"/>
                    <a:pt x="3982541" y="2099"/>
                    <a:pt x="3986277" y="5834"/>
                  </a:cubicBezTo>
                  <a:cubicBezTo>
                    <a:pt x="3990013" y="9570"/>
                    <a:pt x="3992111" y="14637"/>
                    <a:pt x="3992111" y="19920"/>
                  </a:cubicBezTo>
                  <a:lnTo>
                    <a:pt x="3992111" y="2082171"/>
                  </a:lnTo>
                  <a:cubicBezTo>
                    <a:pt x="3992111" y="2087454"/>
                    <a:pt x="3990013" y="2092521"/>
                    <a:pt x="3986277" y="2096256"/>
                  </a:cubicBezTo>
                  <a:cubicBezTo>
                    <a:pt x="3982541" y="2099992"/>
                    <a:pt x="3977475" y="2102090"/>
                    <a:pt x="3972192" y="2102090"/>
                  </a:cubicBezTo>
                  <a:lnTo>
                    <a:pt x="19920" y="2102090"/>
                  </a:lnTo>
                  <a:cubicBezTo>
                    <a:pt x="8918" y="2102090"/>
                    <a:pt x="0" y="2093172"/>
                    <a:pt x="0" y="2082171"/>
                  </a:cubicBezTo>
                  <a:lnTo>
                    <a:pt x="0" y="19920"/>
                  </a:lnTo>
                  <a:cubicBezTo>
                    <a:pt x="0" y="14637"/>
                    <a:pt x="2099" y="9570"/>
                    <a:pt x="5834" y="5834"/>
                  </a:cubicBezTo>
                  <a:cubicBezTo>
                    <a:pt x="9570" y="2099"/>
                    <a:pt x="14637" y="0"/>
                    <a:pt x="19920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112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Hiện thực hóa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73871" y="1551498"/>
            <a:ext cx="14870709" cy="8747476"/>
          </a:xfrm>
          <a:custGeom>
            <a:avLst/>
            <a:gdLst/>
            <a:ahLst/>
            <a:cxnLst/>
            <a:rect r="r" b="b" t="t" l="l"/>
            <a:pathLst>
              <a:path h="8747476" w="14870709">
                <a:moveTo>
                  <a:pt x="0" y="0"/>
                </a:moveTo>
                <a:lnTo>
                  <a:pt x="14870709" y="0"/>
                </a:lnTo>
                <a:lnTo>
                  <a:pt x="14870709" y="8747476"/>
                </a:lnTo>
                <a:lnTo>
                  <a:pt x="0" y="8747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5683" y="3227312"/>
            <a:ext cx="1853941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Mô hình </a:t>
            </a:r>
          </a:p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LMD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0452" y="2305625"/>
            <a:ext cx="15157548" cy="7981375"/>
            <a:chOff x="0" y="0"/>
            <a:chExt cx="3992112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2111" cy="2102090"/>
            </a:xfrm>
            <a:custGeom>
              <a:avLst/>
              <a:gdLst/>
              <a:ahLst/>
              <a:cxnLst/>
              <a:rect r="r" b="b" t="t" l="l"/>
              <a:pathLst>
                <a:path h="2102090" w="3992111">
                  <a:moveTo>
                    <a:pt x="19920" y="0"/>
                  </a:moveTo>
                  <a:lnTo>
                    <a:pt x="3972192" y="0"/>
                  </a:lnTo>
                  <a:cubicBezTo>
                    <a:pt x="3977475" y="0"/>
                    <a:pt x="3982541" y="2099"/>
                    <a:pt x="3986277" y="5834"/>
                  </a:cubicBezTo>
                  <a:cubicBezTo>
                    <a:pt x="3990013" y="9570"/>
                    <a:pt x="3992111" y="14637"/>
                    <a:pt x="3992111" y="19920"/>
                  </a:cubicBezTo>
                  <a:lnTo>
                    <a:pt x="3992111" y="2082171"/>
                  </a:lnTo>
                  <a:cubicBezTo>
                    <a:pt x="3992111" y="2087454"/>
                    <a:pt x="3990013" y="2092521"/>
                    <a:pt x="3986277" y="2096256"/>
                  </a:cubicBezTo>
                  <a:cubicBezTo>
                    <a:pt x="3982541" y="2099992"/>
                    <a:pt x="3977475" y="2102090"/>
                    <a:pt x="3972192" y="2102090"/>
                  </a:cubicBezTo>
                  <a:lnTo>
                    <a:pt x="19920" y="2102090"/>
                  </a:lnTo>
                  <a:cubicBezTo>
                    <a:pt x="8918" y="2102090"/>
                    <a:pt x="0" y="2093172"/>
                    <a:pt x="0" y="2082171"/>
                  </a:cubicBezTo>
                  <a:lnTo>
                    <a:pt x="0" y="19920"/>
                  </a:lnTo>
                  <a:cubicBezTo>
                    <a:pt x="0" y="14637"/>
                    <a:pt x="2099" y="9570"/>
                    <a:pt x="5834" y="5834"/>
                  </a:cubicBezTo>
                  <a:cubicBezTo>
                    <a:pt x="9570" y="2099"/>
                    <a:pt x="14637" y="0"/>
                    <a:pt x="19920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2112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Hiện thực hóa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63197" y="1812047"/>
            <a:ext cx="15192067" cy="8486926"/>
          </a:xfrm>
          <a:custGeom>
            <a:avLst/>
            <a:gdLst/>
            <a:ahLst/>
            <a:cxnLst/>
            <a:rect r="r" b="b" t="t" l="l"/>
            <a:pathLst>
              <a:path h="8486926" w="15192067">
                <a:moveTo>
                  <a:pt x="0" y="0"/>
                </a:moveTo>
                <a:lnTo>
                  <a:pt x="15192067" y="0"/>
                </a:lnTo>
                <a:lnTo>
                  <a:pt x="15192067" y="8486927"/>
                </a:lnTo>
                <a:lnTo>
                  <a:pt x="0" y="8486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4128" y="2761213"/>
            <a:ext cx="1853941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Mô hình </a:t>
            </a:r>
          </a:p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vật lý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0880" y="2305625"/>
            <a:ext cx="13277120" cy="7981375"/>
            <a:chOff x="0" y="0"/>
            <a:chExt cx="3496855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854" cy="2102090"/>
            </a:xfrm>
            <a:custGeom>
              <a:avLst/>
              <a:gdLst/>
              <a:ahLst/>
              <a:cxnLst/>
              <a:rect r="r" b="b" t="t" l="l"/>
              <a:pathLst>
                <a:path h="2102090" w="3496854">
                  <a:moveTo>
                    <a:pt x="22741" y="0"/>
                  </a:moveTo>
                  <a:lnTo>
                    <a:pt x="3474114" y="0"/>
                  </a:lnTo>
                  <a:cubicBezTo>
                    <a:pt x="3480145" y="0"/>
                    <a:pt x="3485929" y="2396"/>
                    <a:pt x="3490194" y="6661"/>
                  </a:cubicBezTo>
                  <a:cubicBezTo>
                    <a:pt x="3494458" y="10925"/>
                    <a:pt x="3496854" y="16710"/>
                    <a:pt x="3496854" y="22741"/>
                  </a:cubicBezTo>
                  <a:lnTo>
                    <a:pt x="3496854" y="2079349"/>
                  </a:lnTo>
                  <a:cubicBezTo>
                    <a:pt x="3496854" y="2085381"/>
                    <a:pt x="3494458" y="2091165"/>
                    <a:pt x="3490194" y="2095430"/>
                  </a:cubicBezTo>
                  <a:cubicBezTo>
                    <a:pt x="3485929" y="2099695"/>
                    <a:pt x="3480145" y="2102090"/>
                    <a:pt x="3474114" y="2102090"/>
                  </a:cubicBezTo>
                  <a:lnTo>
                    <a:pt x="22741" y="2102090"/>
                  </a:lnTo>
                  <a:cubicBezTo>
                    <a:pt x="16710" y="2102090"/>
                    <a:pt x="10925" y="2099695"/>
                    <a:pt x="6661" y="2095430"/>
                  </a:cubicBezTo>
                  <a:cubicBezTo>
                    <a:pt x="2396" y="2091165"/>
                    <a:pt x="0" y="2085381"/>
                    <a:pt x="0" y="2079349"/>
                  </a:cubicBezTo>
                  <a:lnTo>
                    <a:pt x="0" y="22741"/>
                  </a:lnTo>
                  <a:cubicBezTo>
                    <a:pt x="0" y="16710"/>
                    <a:pt x="2396" y="10925"/>
                    <a:pt x="6661" y="6661"/>
                  </a:cubicBezTo>
                  <a:cubicBezTo>
                    <a:pt x="10925" y="2396"/>
                    <a:pt x="16710" y="0"/>
                    <a:pt x="22741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96855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Hiện thực hóa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928118" y="1705017"/>
            <a:ext cx="11442644" cy="8581983"/>
          </a:xfrm>
          <a:custGeom>
            <a:avLst/>
            <a:gdLst/>
            <a:ahLst/>
            <a:cxnLst/>
            <a:rect r="r" b="b" t="t" l="l"/>
            <a:pathLst>
              <a:path h="8581983" w="11442644">
                <a:moveTo>
                  <a:pt x="0" y="0"/>
                </a:moveTo>
                <a:lnTo>
                  <a:pt x="11442644" y="0"/>
                </a:lnTo>
                <a:lnTo>
                  <a:pt x="11442644" y="8581983"/>
                </a:lnTo>
                <a:lnTo>
                  <a:pt x="0" y="8581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4128" y="4171950"/>
            <a:ext cx="3873368" cy="203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  <a:spcBef>
                <a:spcPct val="0"/>
              </a:spcBef>
            </a:pPr>
            <a:r>
              <a:rPr lang="en-US" b="true" sz="6717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Sơ đồ Usecase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0880" y="2305625"/>
            <a:ext cx="13277120" cy="7981375"/>
            <a:chOff x="0" y="0"/>
            <a:chExt cx="3496855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6854" cy="2102090"/>
            </a:xfrm>
            <a:custGeom>
              <a:avLst/>
              <a:gdLst/>
              <a:ahLst/>
              <a:cxnLst/>
              <a:rect r="r" b="b" t="t" l="l"/>
              <a:pathLst>
                <a:path h="2102090" w="3496854">
                  <a:moveTo>
                    <a:pt x="22741" y="0"/>
                  </a:moveTo>
                  <a:lnTo>
                    <a:pt x="3474114" y="0"/>
                  </a:lnTo>
                  <a:cubicBezTo>
                    <a:pt x="3480145" y="0"/>
                    <a:pt x="3485929" y="2396"/>
                    <a:pt x="3490194" y="6661"/>
                  </a:cubicBezTo>
                  <a:cubicBezTo>
                    <a:pt x="3494458" y="10925"/>
                    <a:pt x="3496854" y="16710"/>
                    <a:pt x="3496854" y="22741"/>
                  </a:cubicBezTo>
                  <a:lnTo>
                    <a:pt x="3496854" y="2079349"/>
                  </a:lnTo>
                  <a:cubicBezTo>
                    <a:pt x="3496854" y="2085381"/>
                    <a:pt x="3494458" y="2091165"/>
                    <a:pt x="3490194" y="2095430"/>
                  </a:cubicBezTo>
                  <a:cubicBezTo>
                    <a:pt x="3485929" y="2099695"/>
                    <a:pt x="3480145" y="2102090"/>
                    <a:pt x="3474114" y="2102090"/>
                  </a:cubicBezTo>
                  <a:lnTo>
                    <a:pt x="22741" y="2102090"/>
                  </a:lnTo>
                  <a:cubicBezTo>
                    <a:pt x="16710" y="2102090"/>
                    <a:pt x="10925" y="2099695"/>
                    <a:pt x="6661" y="2095430"/>
                  </a:cubicBezTo>
                  <a:cubicBezTo>
                    <a:pt x="2396" y="2091165"/>
                    <a:pt x="0" y="2085381"/>
                    <a:pt x="0" y="2079349"/>
                  </a:cubicBezTo>
                  <a:lnTo>
                    <a:pt x="0" y="22741"/>
                  </a:lnTo>
                  <a:cubicBezTo>
                    <a:pt x="0" y="16710"/>
                    <a:pt x="2396" y="10925"/>
                    <a:pt x="6661" y="6661"/>
                  </a:cubicBezTo>
                  <a:cubicBezTo>
                    <a:pt x="10925" y="2396"/>
                    <a:pt x="16710" y="0"/>
                    <a:pt x="22741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96855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Hiện thực hóa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262372" y="1604681"/>
            <a:ext cx="12774136" cy="8542505"/>
          </a:xfrm>
          <a:custGeom>
            <a:avLst/>
            <a:gdLst/>
            <a:ahLst/>
            <a:cxnLst/>
            <a:rect r="r" b="b" t="t" l="l"/>
            <a:pathLst>
              <a:path h="8542505" w="12774136">
                <a:moveTo>
                  <a:pt x="0" y="0"/>
                </a:moveTo>
                <a:lnTo>
                  <a:pt x="12774136" y="0"/>
                </a:lnTo>
                <a:lnTo>
                  <a:pt x="12774136" y="8542505"/>
                </a:lnTo>
                <a:lnTo>
                  <a:pt x="0" y="8542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4128" y="4181475"/>
            <a:ext cx="4021024" cy="210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8"/>
              </a:lnSpc>
              <a:spcBef>
                <a:spcPct val="0"/>
              </a:spcBef>
            </a:pPr>
            <a:r>
              <a:rPr lang="en-US" b="true" sz="6973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Sơ đồ Usecase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9511" y="2305625"/>
            <a:ext cx="13978489" cy="7981375"/>
            <a:chOff x="0" y="0"/>
            <a:chExt cx="3681577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1577" cy="2102090"/>
            </a:xfrm>
            <a:custGeom>
              <a:avLst/>
              <a:gdLst/>
              <a:ahLst/>
              <a:cxnLst/>
              <a:rect r="r" b="b" t="t" l="l"/>
              <a:pathLst>
                <a:path h="2102090" w="3681577">
                  <a:moveTo>
                    <a:pt x="21600" y="0"/>
                  </a:moveTo>
                  <a:lnTo>
                    <a:pt x="3659977" y="0"/>
                  </a:lnTo>
                  <a:cubicBezTo>
                    <a:pt x="3671906" y="0"/>
                    <a:pt x="3681577" y="9671"/>
                    <a:pt x="3681577" y="21600"/>
                  </a:cubicBezTo>
                  <a:lnTo>
                    <a:pt x="3681577" y="2080490"/>
                  </a:lnTo>
                  <a:cubicBezTo>
                    <a:pt x="3681577" y="2086219"/>
                    <a:pt x="3679301" y="2091713"/>
                    <a:pt x="3675251" y="2095764"/>
                  </a:cubicBezTo>
                  <a:cubicBezTo>
                    <a:pt x="3671200" y="2099815"/>
                    <a:pt x="3665706" y="2102090"/>
                    <a:pt x="3659977" y="2102090"/>
                  </a:cubicBezTo>
                  <a:lnTo>
                    <a:pt x="21600" y="2102090"/>
                  </a:lnTo>
                  <a:cubicBezTo>
                    <a:pt x="9671" y="2102090"/>
                    <a:pt x="0" y="2092420"/>
                    <a:pt x="0" y="2080490"/>
                  </a:cubicBezTo>
                  <a:lnTo>
                    <a:pt x="0" y="21600"/>
                  </a:lnTo>
                  <a:cubicBezTo>
                    <a:pt x="0" y="9671"/>
                    <a:pt x="9671" y="0"/>
                    <a:pt x="21600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81577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Kết quả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576340" y="2747457"/>
            <a:ext cx="13444831" cy="7097712"/>
          </a:xfrm>
          <a:custGeom>
            <a:avLst/>
            <a:gdLst/>
            <a:ahLst/>
            <a:cxnLst/>
            <a:rect r="r" b="b" t="t" l="l"/>
            <a:pathLst>
              <a:path h="7097712" w="13444831">
                <a:moveTo>
                  <a:pt x="0" y="0"/>
                </a:moveTo>
                <a:lnTo>
                  <a:pt x="13444831" y="0"/>
                </a:lnTo>
                <a:lnTo>
                  <a:pt x="13444831" y="7097712"/>
                </a:lnTo>
                <a:lnTo>
                  <a:pt x="0" y="709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9269" y="3786339"/>
            <a:ext cx="3610235" cy="286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3"/>
              </a:lnSpc>
            </a:pPr>
            <a:r>
              <a:rPr lang="en-US" sz="6261" b="true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Sơ đồ Site Map</a:t>
            </a:r>
          </a:p>
          <a:p>
            <a:pPr algn="l">
              <a:lnSpc>
                <a:spcPts val="7513"/>
              </a:lnSpc>
              <a:spcBef>
                <a:spcPct val="0"/>
              </a:spcBef>
            </a:pPr>
            <a:r>
              <a:rPr lang="en-US" b="true" sz="6261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sinh viên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9511" y="2305625"/>
            <a:ext cx="13978489" cy="7981375"/>
            <a:chOff x="0" y="0"/>
            <a:chExt cx="3681577" cy="2102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1577" cy="2102090"/>
            </a:xfrm>
            <a:custGeom>
              <a:avLst/>
              <a:gdLst/>
              <a:ahLst/>
              <a:cxnLst/>
              <a:rect r="r" b="b" t="t" l="l"/>
              <a:pathLst>
                <a:path h="2102090" w="3681577">
                  <a:moveTo>
                    <a:pt x="21600" y="0"/>
                  </a:moveTo>
                  <a:lnTo>
                    <a:pt x="3659977" y="0"/>
                  </a:lnTo>
                  <a:cubicBezTo>
                    <a:pt x="3671906" y="0"/>
                    <a:pt x="3681577" y="9671"/>
                    <a:pt x="3681577" y="21600"/>
                  </a:cubicBezTo>
                  <a:lnTo>
                    <a:pt x="3681577" y="2080490"/>
                  </a:lnTo>
                  <a:cubicBezTo>
                    <a:pt x="3681577" y="2086219"/>
                    <a:pt x="3679301" y="2091713"/>
                    <a:pt x="3675251" y="2095764"/>
                  </a:cubicBezTo>
                  <a:cubicBezTo>
                    <a:pt x="3671200" y="2099815"/>
                    <a:pt x="3665706" y="2102090"/>
                    <a:pt x="3659977" y="2102090"/>
                  </a:cubicBezTo>
                  <a:lnTo>
                    <a:pt x="21600" y="2102090"/>
                  </a:lnTo>
                  <a:cubicBezTo>
                    <a:pt x="9671" y="2102090"/>
                    <a:pt x="0" y="2092420"/>
                    <a:pt x="0" y="2080490"/>
                  </a:cubicBezTo>
                  <a:lnTo>
                    <a:pt x="0" y="21600"/>
                  </a:lnTo>
                  <a:cubicBezTo>
                    <a:pt x="0" y="9671"/>
                    <a:pt x="9671" y="0"/>
                    <a:pt x="21600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81577" cy="214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47413"/>
            <a:ext cx="3651560" cy="3651560"/>
          </a:xfrm>
          <a:custGeom>
            <a:avLst/>
            <a:gdLst/>
            <a:ahLst/>
            <a:cxnLst/>
            <a:rect r="r" b="b" t="t" l="l"/>
            <a:pathLst>
              <a:path h="3651560" w="3651560">
                <a:moveTo>
                  <a:pt x="0" y="0"/>
                </a:moveTo>
                <a:lnTo>
                  <a:pt x="3651560" y="0"/>
                </a:lnTo>
                <a:lnTo>
                  <a:pt x="3651560" y="3651561"/>
                </a:lnTo>
                <a:lnTo>
                  <a:pt x="0" y="365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227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22" y="-15918"/>
            <a:ext cx="1028700" cy="1960736"/>
            <a:chOff x="0" y="0"/>
            <a:chExt cx="270933" cy="516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516408"/>
            </a:xfrm>
            <a:custGeom>
              <a:avLst/>
              <a:gdLst/>
              <a:ahLst/>
              <a:cxnLst/>
              <a:rect r="r" b="b" t="t" l="l"/>
              <a:pathLst>
                <a:path h="516408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516408"/>
                  </a:lnTo>
                  <a:lnTo>
                    <a:pt x="0" y="516408"/>
                  </a:lnTo>
                  <a:close/>
                </a:path>
              </a:pathLst>
            </a:custGeom>
            <a:solidFill>
              <a:srgbClr val="19A7C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554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35152" y="81814"/>
            <a:ext cx="10449201" cy="1355976"/>
            <a:chOff x="0" y="0"/>
            <a:chExt cx="2752053" cy="357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2053" cy="357130"/>
            </a:xfrm>
            <a:custGeom>
              <a:avLst/>
              <a:gdLst/>
              <a:ahLst/>
              <a:cxnLst/>
              <a:rect r="r" b="b" t="t" l="l"/>
              <a:pathLst>
                <a:path h="357130" w="2752053">
                  <a:moveTo>
                    <a:pt x="0" y="0"/>
                  </a:moveTo>
                  <a:lnTo>
                    <a:pt x="2752053" y="0"/>
                  </a:lnTo>
                  <a:lnTo>
                    <a:pt x="2752053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752053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Kết quả nghiên cứu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14697" y="2883789"/>
            <a:ext cx="13768117" cy="7106560"/>
          </a:xfrm>
          <a:custGeom>
            <a:avLst/>
            <a:gdLst/>
            <a:ahLst/>
            <a:cxnLst/>
            <a:rect r="r" b="b" t="t" l="l"/>
            <a:pathLst>
              <a:path h="7106560" w="13768117">
                <a:moveTo>
                  <a:pt x="0" y="0"/>
                </a:moveTo>
                <a:lnTo>
                  <a:pt x="13768117" y="0"/>
                </a:lnTo>
                <a:lnTo>
                  <a:pt x="13768117" y="7106560"/>
                </a:lnTo>
                <a:lnTo>
                  <a:pt x="0" y="7106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9269" y="3786339"/>
            <a:ext cx="3610235" cy="286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3"/>
              </a:lnSpc>
            </a:pPr>
            <a:r>
              <a:rPr lang="en-US" sz="6261" b="true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Sơ đồ Site Map</a:t>
            </a:r>
          </a:p>
          <a:p>
            <a:pPr algn="l">
              <a:lnSpc>
                <a:spcPts val="7513"/>
              </a:lnSpc>
              <a:spcBef>
                <a:spcPct val="0"/>
              </a:spcBef>
            </a:pPr>
            <a:r>
              <a:rPr lang="en-US" b="true" sz="6261">
                <a:solidFill>
                  <a:srgbClr val="545454"/>
                </a:solidFill>
                <a:latin typeface="Muli Bold"/>
                <a:ea typeface="Muli Bold"/>
                <a:cs typeface="Muli Bold"/>
                <a:sym typeface="Muli Bold"/>
              </a:rPr>
              <a:t>CVHT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4612" y="2191687"/>
            <a:ext cx="12854410" cy="3345578"/>
            <a:chOff x="0" y="0"/>
            <a:chExt cx="3385524" cy="881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85524" cy="881140"/>
            </a:xfrm>
            <a:custGeom>
              <a:avLst/>
              <a:gdLst/>
              <a:ahLst/>
              <a:cxnLst/>
              <a:rect r="r" b="b" t="t" l="l"/>
              <a:pathLst>
                <a:path h="881140" w="3385524">
                  <a:moveTo>
                    <a:pt x="12046" y="0"/>
                  </a:moveTo>
                  <a:lnTo>
                    <a:pt x="3373478" y="0"/>
                  </a:lnTo>
                  <a:cubicBezTo>
                    <a:pt x="3376673" y="0"/>
                    <a:pt x="3379737" y="1269"/>
                    <a:pt x="3381996" y="3528"/>
                  </a:cubicBezTo>
                  <a:cubicBezTo>
                    <a:pt x="3384255" y="5787"/>
                    <a:pt x="3385524" y="8851"/>
                    <a:pt x="3385524" y="12046"/>
                  </a:cubicBezTo>
                  <a:lnTo>
                    <a:pt x="3385524" y="869094"/>
                  </a:lnTo>
                  <a:cubicBezTo>
                    <a:pt x="3385524" y="875747"/>
                    <a:pt x="3380131" y="881140"/>
                    <a:pt x="3373478" y="881140"/>
                  </a:cubicBezTo>
                  <a:lnTo>
                    <a:pt x="12046" y="881140"/>
                  </a:lnTo>
                  <a:cubicBezTo>
                    <a:pt x="5393" y="881140"/>
                    <a:pt x="0" y="875747"/>
                    <a:pt x="0" y="869094"/>
                  </a:cubicBezTo>
                  <a:lnTo>
                    <a:pt x="0" y="12046"/>
                  </a:lnTo>
                  <a:cubicBezTo>
                    <a:pt x="0" y="5393"/>
                    <a:pt x="5393" y="0"/>
                    <a:pt x="12046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85524" cy="91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9826" y="6794037"/>
            <a:ext cx="12889085" cy="2936936"/>
            <a:chOff x="0" y="0"/>
            <a:chExt cx="3394656" cy="773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4656" cy="773514"/>
            </a:xfrm>
            <a:custGeom>
              <a:avLst/>
              <a:gdLst/>
              <a:ahLst/>
              <a:cxnLst/>
              <a:rect r="r" b="b" t="t" l="l"/>
              <a:pathLst>
                <a:path h="773514" w="3394656">
                  <a:moveTo>
                    <a:pt x="12013" y="0"/>
                  </a:moveTo>
                  <a:lnTo>
                    <a:pt x="3382643" y="0"/>
                  </a:lnTo>
                  <a:cubicBezTo>
                    <a:pt x="3385829" y="0"/>
                    <a:pt x="3388885" y="1266"/>
                    <a:pt x="3391138" y="3519"/>
                  </a:cubicBezTo>
                  <a:cubicBezTo>
                    <a:pt x="3393390" y="5771"/>
                    <a:pt x="3394656" y="8827"/>
                    <a:pt x="3394656" y="12013"/>
                  </a:cubicBezTo>
                  <a:lnTo>
                    <a:pt x="3394656" y="761501"/>
                  </a:lnTo>
                  <a:cubicBezTo>
                    <a:pt x="3394656" y="764687"/>
                    <a:pt x="3393390" y="767743"/>
                    <a:pt x="3391138" y="769995"/>
                  </a:cubicBezTo>
                  <a:cubicBezTo>
                    <a:pt x="3388885" y="772248"/>
                    <a:pt x="3385829" y="773514"/>
                    <a:pt x="3382643" y="773514"/>
                  </a:cubicBezTo>
                  <a:lnTo>
                    <a:pt x="12013" y="773514"/>
                  </a:lnTo>
                  <a:cubicBezTo>
                    <a:pt x="5378" y="773514"/>
                    <a:pt x="0" y="768136"/>
                    <a:pt x="0" y="761501"/>
                  </a:cubicBezTo>
                  <a:lnTo>
                    <a:pt x="0" y="12013"/>
                  </a:lnTo>
                  <a:cubicBezTo>
                    <a:pt x="0" y="8827"/>
                    <a:pt x="1266" y="5771"/>
                    <a:pt x="3519" y="3519"/>
                  </a:cubicBezTo>
                  <a:cubicBezTo>
                    <a:pt x="5771" y="1266"/>
                    <a:pt x="8827" y="0"/>
                    <a:pt x="12013" y="0"/>
                  </a:cubicBez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94656" cy="811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999086" y="8097966"/>
            <a:ext cx="2288914" cy="2189034"/>
          </a:xfrm>
          <a:custGeom>
            <a:avLst/>
            <a:gdLst/>
            <a:ahLst/>
            <a:cxnLst/>
            <a:rect r="r" b="b" t="t" l="l"/>
            <a:pathLst>
              <a:path h="2189034" w="2288914">
                <a:moveTo>
                  <a:pt x="0" y="0"/>
                </a:moveTo>
                <a:lnTo>
                  <a:pt x="2288914" y="0"/>
                </a:lnTo>
                <a:lnTo>
                  <a:pt x="2288914" y="2189034"/>
                </a:lnTo>
                <a:lnTo>
                  <a:pt x="0" y="218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0" y="2652"/>
            <a:ext cx="2288914" cy="2189034"/>
          </a:xfrm>
          <a:custGeom>
            <a:avLst/>
            <a:gdLst/>
            <a:ahLst/>
            <a:cxnLst/>
            <a:rect r="r" b="b" t="t" l="l"/>
            <a:pathLst>
              <a:path h="2189034" w="2288914">
                <a:moveTo>
                  <a:pt x="2288914" y="2189035"/>
                </a:moveTo>
                <a:lnTo>
                  <a:pt x="0" y="2189035"/>
                </a:lnTo>
                <a:lnTo>
                  <a:pt x="0" y="0"/>
                </a:lnTo>
                <a:lnTo>
                  <a:pt x="2288914" y="0"/>
                </a:lnTo>
                <a:lnTo>
                  <a:pt x="2288914" y="21890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94044" y="779347"/>
            <a:ext cx="2065256" cy="498706"/>
          </a:xfrm>
          <a:custGeom>
            <a:avLst/>
            <a:gdLst/>
            <a:ahLst/>
            <a:cxnLst/>
            <a:rect r="r" b="b" t="t" l="l"/>
            <a:pathLst>
              <a:path h="498706" w="2065256">
                <a:moveTo>
                  <a:pt x="0" y="0"/>
                </a:moveTo>
                <a:lnTo>
                  <a:pt x="2065256" y="0"/>
                </a:lnTo>
                <a:lnTo>
                  <a:pt x="2065256" y="498706"/>
                </a:lnTo>
                <a:lnTo>
                  <a:pt x="0" y="49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134619" y="0"/>
            <a:ext cx="12241139" cy="1355976"/>
            <a:chOff x="0" y="0"/>
            <a:chExt cx="3224004" cy="35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24004" cy="357130"/>
            </a:xfrm>
            <a:custGeom>
              <a:avLst/>
              <a:gdLst/>
              <a:ahLst/>
              <a:cxnLst/>
              <a:rect r="r" b="b" t="t" l="l"/>
              <a:pathLst>
                <a:path h="357130" w="3224004">
                  <a:moveTo>
                    <a:pt x="0" y="0"/>
                  </a:moveTo>
                  <a:lnTo>
                    <a:pt x="3224004" y="0"/>
                  </a:lnTo>
                  <a:lnTo>
                    <a:pt x="3224004" y="357130"/>
                  </a:lnTo>
                  <a:lnTo>
                    <a:pt x="0" y="357130"/>
                  </a:lnTo>
                  <a:close/>
                </a:path>
              </a:pathLst>
            </a:custGeom>
            <a:solidFill>
              <a:srgbClr val="146C9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3224004" cy="480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kết luận và hướng phát triển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76860" y="6533877"/>
            <a:ext cx="4979945" cy="3299907"/>
          </a:xfrm>
          <a:custGeom>
            <a:avLst/>
            <a:gdLst/>
            <a:ahLst/>
            <a:cxnLst/>
            <a:rect r="r" b="b" t="t" l="l"/>
            <a:pathLst>
              <a:path h="3299907" w="4979945">
                <a:moveTo>
                  <a:pt x="0" y="0"/>
                </a:moveTo>
                <a:lnTo>
                  <a:pt x="4979944" y="0"/>
                </a:lnTo>
                <a:lnTo>
                  <a:pt x="4979944" y="3299907"/>
                </a:lnTo>
                <a:lnTo>
                  <a:pt x="0" y="3299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83" r="0" b="-558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37632" y="2360322"/>
            <a:ext cx="4823666" cy="2783178"/>
          </a:xfrm>
          <a:custGeom>
            <a:avLst/>
            <a:gdLst/>
            <a:ahLst/>
            <a:cxnLst/>
            <a:rect r="r" b="b" t="t" l="l"/>
            <a:pathLst>
              <a:path h="2783178" w="4823666">
                <a:moveTo>
                  <a:pt x="0" y="0"/>
                </a:moveTo>
                <a:lnTo>
                  <a:pt x="4823666" y="0"/>
                </a:lnTo>
                <a:lnTo>
                  <a:pt x="4823666" y="2783178"/>
                </a:lnTo>
                <a:lnTo>
                  <a:pt x="0" y="27831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648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61298" y="2303172"/>
            <a:ext cx="11422498" cy="297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Xây</a:t>
            </a: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dựng thành cô</a:t>
            </a: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ng hệ thống e-Portfolio trên nền tảng Web.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Tự động tính toán và trực quan hóa PLO, CLO.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Hỗ trợ cố vấn học tập theo dõi sinh viên.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Tích hợp trợ lý AI Gemini.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048384"/>
            <a:ext cx="11422498" cy="237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Tối ưu hóa và mở rộng quy mô triển khai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Xây dựng phân hệ thông báo và cảnh báo sớm</a:t>
            </a:r>
          </a:p>
          <a:p>
            <a:pPr algn="just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Nâng cấp AI tư vấn chuyên sâu hơn.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5555" y="3231033"/>
            <a:ext cx="8276890" cy="205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146C94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4223731" y="-129551"/>
            <a:ext cx="4064269" cy="4064269"/>
          </a:xfrm>
          <a:custGeom>
            <a:avLst/>
            <a:gdLst/>
            <a:ahLst/>
            <a:cxnLst/>
            <a:rect r="r" b="b" t="t" l="l"/>
            <a:pathLst>
              <a:path h="4064269" w="4064269">
                <a:moveTo>
                  <a:pt x="4064269" y="4064270"/>
                </a:moveTo>
                <a:lnTo>
                  <a:pt x="0" y="4064270"/>
                </a:lnTo>
                <a:lnTo>
                  <a:pt x="0" y="0"/>
                </a:lnTo>
                <a:lnTo>
                  <a:pt x="4064269" y="0"/>
                </a:lnTo>
                <a:lnTo>
                  <a:pt x="4064269" y="40642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94293"/>
            <a:ext cx="2417484" cy="583759"/>
          </a:xfrm>
          <a:custGeom>
            <a:avLst/>
            <a:gdLst/>
            <a:ahLst/>
            <a:cxnLst/>
            <a:rect r="r" b="b" t="t" l="l"/>
            <a:pathLst>
              <a:path h="583759" w="2417484">
                <a:moveTo>
                  <a:pt x="0" y="0"/>
                </a:moveTo>
                <a:lnTo>
                  <a:pt x="2417484" y="0"/>
                </a:lnTo>
                <a:lnTo>
                  <a:pt x="2417484" y="583760"/>
                </a:lnTo>
                <a:lnTo>
                  <a:pt x="0" y="58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70516" y="8966420"/>
            <a:ext cx="2417484" cy="583759"/>
          </a:xfrm>
          <a:custGeom>
            <a:avLst/>
            <a:gdLst/>
            <a:ahLst/>
            <a:cxnLst/>
            <a:rect r="r" b="b" t="t" l="l"/>
            <a:pathLst>
              <a:path h="583759" w="2417484">
                <a:moveTo>
                  <a:pt x="0" y="0"/>
                </a:moveTo>
                <a:lnTo>
                  <a:pt x="2417484" y="0"/>
                </a:lnTo>
                <a:lnTo>
                  <a:pt x="2417484" y="583760"/>
                </a:lnTo>
                <a:lnTo>
                  <a:pt x="0" y="58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222731"/>
            <a:ext cx="4064269" cy="4064269"/>
          </a:xfrm>
          <a:custGeom>
            <a:avLst/>
            <a:gdLst/>
            <a:ahLst/>
            <a:cxnLst/>
            <a:rect r="r" b="b" t="t" l="l"/>
            <a:pathLst>
              <a:path h="4064269" w="4064269">
                <a:moveTo>
                  <a:pt x="0" y="0"/>
                </a:moveTo>
                <a:lnTo>
                  <a:pt x="4064269" y="0"/>
                </a:lnTo>
                <a:lnTo>
                  <a:pt x="4064269" y="4064269"/>
                </a:lnTo>
                <a:lnTo>
                  <a:pt x="0" y="4064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DAHNvsXGv8g</dc:identifier>
  <dcterms:modified xsi:type="dcterms:W3CDTF">2011-08-01T06:04:30Z</dcterms:modified>
  <cp:revision>1</cp:revision>
  <dc:title>Project Proposal</dc:title>
</cp:coreProperties>
</file>